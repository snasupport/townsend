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4"/>
  </p:sldMasterIdLst>
  <p:notesMasterIdLst>
    <p:notesMasterId r:id="rId13"/>
  </p:notesMasterIdLst>
  <p:sldIdLst>
    <p:sldId id="256" r:id="rId5"/>
    <p:sldId id="271" r:id="rId6"/>
    <p:sldId id="277" r:id="rId7"/>
    <p:sldId id="272" r:id="rId8"/>
    <p:sldId id="273" r:id="rId9"/>
    <p:sldId id="274" r:id="rId10"/>
    <p:sldId id="275" r:id="rId11"/>
    <p:sldId id="27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271"/>
            <p14:sldId id="277"/>
          </p14:sldIdLst>
        </p14:section>
        <p14:section name="Design, Impress, Work Together" id="{B9B51309-D148-4332-87C2-07BE32FBCA3B}">
          <p14:sldIdLst>
            <p14:sldId id="272"/>
            <p14:sldId id="273"/>
            <p14:sldId id="274"/>
            <p14:sldId id="275"/>
            <p14:sldId id="276"/>
          </p14:sldIdLst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B4A6"/>
    <a:srgbClr val="734F29"/>
    <a:srgbClr val="D24726"/>
    <a:srgbClr val="DD462F"/>
    <a:srgbClr val="AEB785"/>
    <a:srgbClr val="EFD5A2"/>
    <a:srgbClr val="3B3026"/>
    <a:srgbClr val="ECE1CA"/>
    <a:srgbClr val="79553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81" autoAdjust="0"/>
    <p:restoredTop sz="94280" autoAdjust="0"/>
  </p:normalViewPr>
  <p:slideViewPr>
    <p:cSldViewPr snapToGrid="0">
      <p:cViewPr>
        <p:scale>
          <a:sx n="75" d="100"/>
          <a:sy n="75" d="100"/>
        </p:scale>
        <p:origin x="468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8BEEBAAA-29B5-4AF5-BC5F-7E580C29002D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833629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53946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719160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564892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848386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540124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068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053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5618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694561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640492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BEEBAAA-29B5-4AF5-BC5F-7E580C29002D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2343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2" y="1379689"/>
            <a:ext cx="10515600" cy="23876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Accounting Engagement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FDT Townsend &amp; S&amp;A Technologies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Status January 7 2020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968" y="4841207"/>
            <a:ext cx="5012174" cy="184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9720072" cy="1499616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Meeting Objectives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91800" cy="444776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Use Donors </a:t>
            </a:r>
            <a:r>
              <a:rPr lang="en-US" sz="3200" dirty="0" smtClean="0"/>
              <a:t>and Classes in </a:t>
            </a:r>
            <a:r>
              <a:rPr lang="en-US" sz="3200" dirty="0" smtClean="0"/>
              <a:t>QuickBooks</a:t>
            </a:r>
            <a:endParaRPr lang="en-US" sz="3200" dirty="0" smtClean="0"/>
          </a:p>
          <a:p>
            <a:pPr marL="342900" indent="-342900">
              <a:buAutoNum type="arabicPeriod"/>
            </a:pPr>
            <a:r>
              <a:rPr lang="en-US" sz="3200" dirty="0" smtClean="0"/>
              <a:t>Use Attachments </a:t>
            </a:r>
            <a:r>
              <a:rPr lang="en-US" sz="3200" dirty="0" smtClean="0"/>
              <a:t>in QuickBooks</a:t>
            </a:r>
          </a:p>
          <a:p>
            <a:pPr marL="342900" indent="-342900">
              <a:buAutoNum type="arabicPeriod"/>
            </a:pPr>
            <a:r>
              <a:rPr lang="en-US" sz="3200" dirty="0" smtClean="0"/>
              <a:t>Use Budget </a:t>
            </a:r>
            <a:r>
              <a:rPr lang="en-US" sz="3200" dirty="0" smtClean="0"/>
              <a:t>in </a:t>
            </a:r>
            <a:r>
              <a:rPr lang="en-US" sz="3200" dirty="0" smtClean="0"/>
              <a:t>QuickBooks</a:t>
            </a:r>
          </a:p>
          <a:p>
            <a:pPr marL="342900" indent="-342900">
              <a:buAutoNum type="arabicPeriod"/>
            </a:pPr>
            <a:r>
              <a:rPr lang="en-US" sz="3200" dirty="0" smtClean="0"/>
              <a:t>Decide about Allocations</a:t>
            </a:r>
          </a:p>
          <a:p>
            <a:pPr marL="516636" lvl="1" indent="-342900">
              <a:buAutoNum type="arabicPeriod"/>
            </a:pPr>
            <a:r>
              <a:rPr lang="en-US" sz="2800" dirty="0" smtClean="0"/>
              <a:t>Manage Allocation Tables outside of QuickBooks (Google Sheets)</a:t>
            </a:r>
          </a:p>
          <a:p>
            <a:pPr marL="516636" lvl="1" indent="-342900">
              <a:buAutoNum type="arabicPeriod"/>
            </a:pPr>
            <a:r>
              <a:rPr lang="en-US" sz="2800" dirty="0" smtClean="0"/>
              <a:t>Enter transactions with splits according to allocation table</a:t>
            </a:r>
            <a:endParaRPr lang="en-US" sz="2800" dirty="0" smtClean="0"/>
          </a:p>
          <a:p>
            <a:pPr marL="342900" indent="-342900">
              <a:buAutoNum type="arabicPeriod"/>
            </a:pPr>
            <a:r>
              <a:rPr lang="en-US" sz="3200" dirty="0" smtClean="0"/>
              <a:t>Discuss Implementation of Decision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896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9720072" cy="1499616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Arguments for Proposal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91800" cy="4447761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P/L reports by Donor and Classes are the easiest way to accommodate the internal reporting needs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Enter transactions by Donor and Class are the easiest way to keep track of expenses correctly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Attaching documents to transactions are the easiest way to keep track of documents. Documents can be mass downloaded out of QuickBooks for purposes of Donor Reporting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QuickBooks provide Budget functionality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QuickBooks does not provide any allocation percentages, but it can split transactions by Donor and Class (Program)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Downloads from QuickBooks into Excel can be processed with Macros</a:t>
            </a:r>
            <a:endParaRPr lang="en-US" sz="3200" dirty="0" smtClean="0"/>
          </a:p>
          <a:p>
            <a:pPr marL="514350" indent="-514350">
              <a:buFont typeface="+mj-lt"/>
              <a:buAutoNum type="arabicPeriod"/>
            </a:pPr>
            <a:endParaRPr lang="en-US" sz="3200" dirty="0" smtClean="0"/>
          </a:p>
          <a:p>
            <a:pPr marL="514350" indent="-514350">
              <a:buFont typeface="+mj-lt"/>
              <a:buAutoNum type="arabicPeriod"/>
            </a:pPr>
            <a:endParaRPr lang="en-US" sz="3200" dirty="0" smtClean="0"/>
          </a:p>
          <a:p>
            <a:pPr marL="514350" indent="-514350">
              <a:buFont typeface="+mj-lt"/>
              <a:buAutoNum type="arabicPeriod"/>
            </a:pPr>
            <a:endParaRPr lang="en-US" sz="3200" dirty="0" smtClean="0"/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597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244" y="26167"/>
            <a:ext cx="11786437" cy="1499616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Transactions (Customers)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91800" cy="4447761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endParaRPr lang="en-US" b="1" dirty="0" smtClean="0"/>
          </a:p>
          <a:p>
            <a:pPr marL="342900" indent="-342900">
              <a:buAutoNum type="arabicPeriod"/>
            </a:pPr>
            <a:endParaRPr lang="en-US" b="1" dirty="0" smtClean="0"/>
          </a:p>
          <a:p>
            <a:pPr marL="342900" indent="-342900">
              <a:buAutoNum type="arabicPeriod"/>
            </a:pPr>
            <a:endParaRPr lang="en-US" b="1" dirty="0" smtClean="0"/>
          </a:p>
          <a:p>
            <a:pPr marL="342900" indent="-342900">
              <a:buAutoNum type="arabicPeriod"/>
            </a:pPr>
            <a:endParaRPr lang="en-US" b="1" dirty="0" smtClean="0"/>
          </a:p>
          <a:p>
            <a:pPr marL="342900" indent="-342900">
              <a:buAutoNum type="arabicPeriod"/>
            </a:pPr>
            <a:endParaRPr lang="en-US" b="1" dirty="0" smtClean="0"/>
          </a:p>
          <a:p>
            <a:pPr marL="342900" indent="-342900">
              <a:buAutoNum type="arabicPeriod"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286852"/>
              </p:ext>
            </p:extLst>
          </p:nvPr>
        </p:nvGraphicFramePr>
        <p:xfrm>
          <a:off x="601579" y="1525783"/>
          <a:ext cx="10864518" cy="4136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753"/>
                <a:gridCol w="1810753"/>
                <a:gridCol w="1810753"/>
                <a:gridCol w="1415833"/>
                <a:gridCol w="1766047"/>
                <a:gridCol w="2250379"/>
              </a:tblGrid>
              <a:tr h="36388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Transaction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Attachment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Donors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Classes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Used by ULEC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Comment</a:t>
                      </a:r>
                      <a:endParaRPr lang="en-US" dirty="0"/>
                    </a:p>
                  </a:txBody>
                  <a:tcPr/>
                </a:tc>
              </a:tr>
              <a:tr h="363883">
                <a:tc>
                  <a:txBody>
                    <a:bodyPr/>
                    <a:lstStyle/>
                    <a:p>
                      <a:r>
                        <a:rPr lang="en-US" sz="1400" b="0" dirty="0" smtClean="0"/>
                        <a:t>Invoice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X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X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X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Yes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On</a:t>
                      </a:r>
                      <a:r>
                        <a:rPr lang="en-US" sz="1400" baseline="0" dirty="0" smtClean="0"/>
                        <a:t> Donor per document</a:t>
                      </a:r>
                      <a:endParaRPr lang="en-US" sz="1400" dirty="0"/>
                    </a:p>
                  </a:txBody>
                  <a:tcPr/>
                </a:tc>
              </a:tr>
              <a:tr h="36388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Multiple invoices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X</a:t>
                      </a:r>
                      <a:endParaRPr 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X</a:t>
                      </a:r>
                      <a:endParaRPr 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X</a:t>
                      </a:r>
                      <a:endParaRPr 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 smtClean="0"/>
                    </a:p>
                  </a:txBody>
                  <a:tcPr/>
                </a:tc>
              </a:tr>
              <a:tr h="385174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Receipt payment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X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X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do not need classes, is attached to donor on header level</a:t>
                      </a:r>
                    </a:p>
                  </a:txBody>
                  <a:tcPr/>
                </a:tc>
              </a:tr>
              <a:tr h="38517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Estimate</a:t>
                      </a:r>
                      <a:endParaRPr 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385174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Credit memo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X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X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Donor on header level</a:t>
                      </a:r>
                    </a:p>
                  </a:txBody>
                  <a:tcPr/>
                </a:tc>
              </a:tr>
              <a:tr h="38517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Sales receipt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X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X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Yes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One sales receipt for donors</a:t>
                      </a:r>
                      <a:endParaRPr lang="en-US" sz="1400" dirty="0"/>
                    </a:p>
                  </a:txBody>
                  <a:tcPr/>
                </a:tc>
              </a:tr>
              <a:tr h="38517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Refund receipt</a:t>
                      </a:r>
                      <a:endParaRPr 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4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38517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Delayed Credit</a:t>
                      </a:r>
                      <a:endParaRPr 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4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38517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Delayed Charge</a:t>
                      </a:r>
                      <a:endParaRPr 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4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441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244" y="26167"/>
            <a:ext cx="11786437" cy="1499616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Transactions (Vendors)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91800" cy="4447761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endParaRPr lang="en-US" b="1" dirty="0" smtClean="0"/>
          </a:p>
          <a:p>
            <a:pPr marL="342900" indent="-342900">
              <a:buAutoNum type="arabicPeriod"/>
            </a:pPr>
            <a:endParaRPr lang="en-US" b="1" dirty="0" smtClean="0"/>
          </a:p>
          <a:p>
            <a:pPr marL="342900" indent="-342900">
              <a:buAutoNum type="arabicPeriod"/>
            </a:pPr>
            <a:endParaRPr lang="en-US" b="1" dirty="0" smtClean="0"/>
          </a:p>
          <a:p>
            <a:pPr marL="342900" indent="-342900">
              <a:buAutoNum type="arabicPeriod"/>
            </a:pPr>
            <a:endParaRPr lang="en-US" b="1" dirty="0" smtClean="0"/>
          </a:p>
          <a:p>
            <a:pPr marL="342900" indent="-342900">
              <a:buAutoNum type="arabicPeriod"/>
            </a:pPr>
            <a:endParaRPr lang="en-US" b="1" dirty="0" smtClean="0"/>
          </a:p>
          <a:p>
            <a:pPr marL="342900" indent="-342900">
              <a:buAutoNum type="arabicPeriod"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627574"/>
              </p:ext>
            </p:extLst>
          </p:nvPr>
        </p:nvGraphicFramePr>
        <p:xfrm>
          <a:off x="601579" y="1525783"/>
          <a:ext cx="10864518" cy="41887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753"/>
                <a:gridCol w="1810753"/>
                <a:gridCol w="1810753"/>
                <a:gridCol w="1415833"/>
                <a:gridCol w="1766047"/>
                <a:gridCol w="2250379"/>
              </a:tblGrid>
              <a:tr h="36388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Transaction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Attachment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Donors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Classes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Used by ULEC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Comment</a:t>
                      </a:r>
                      <a:endParaRPr lang="en-US" dirty="0"/>
                    </a:p>
                  </a:txBody>
                  <a:tcPr/>
                </a:tc>
              </a:tr>
              <a:tr h="363883"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Expense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6388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8517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Bill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8517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Pay Bills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4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does not needed to be classified, no attachments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8517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Purchase Order</a:t>
                      </a:r>
                      <a:endParaRPr 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X</a:t>
                      </a:r>
                      <a:endParaRPr 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X</a:t>
                      </a:r>
                      <a:endParaRPr 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 smtClean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 smtClean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8517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Vendor Credit</a:t>
                      </a:r>
                      <a:endParaRPr 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X</a:t>
                      </a:r>
                      <a:endParaRPr 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X</a:t>
                      </a:r>
                      <a:endParaRPr 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8517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Credit Card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8517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Print Checks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4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does not need to be classified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8517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Pay bills online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4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does not need to be classified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8606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244" y="26167"/>
            <a:ext cx="11786437" cy="1499616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Transactions (Employees)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91800" cy="4447761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endParaRPr lang="en-US" b="1" dirty="0" smtClean="0"/>
          </a:p>
          <a:p>
            <a:pPr marL="342900" indent="-342900">
              <a:buAutoNum type="arabicPeriod"/>
            </a:pPr>
            <a:endParaRPr lang="en-US" b="1" dirty="0" smtClean="0"/>
          </a:p>
          <a:p>
            <a:pPr marL="342900" indent="-342900">
              <a:buAutoNum type="arabicPeriod"/>
            </a:pPr>
            <a:endParaRPr lang="en-US" b="1" dirty="0" smtClean="0"/>
          </a:p>
          <a:p>
            <a:pPr marL="342900" indent="-342900">
              <a:buAutoNum type="arabicPeriod"/>
            </a:pPr>
            <a:endParaRPr lang="en-US" b="1" dirty="0" smtClean="0"/>
          </a:p>
          <a:p>
            <a:pPr marL="342900" indent="-342900">
              <a:buAutoNum type="arabicPeriod"/>
            </a:pPr>
            <a:endParaRPr lang="en-US" b="1" dirty="0" smtClean="0"/>
          </a:p>
          <a:p>
            <a:pPr marL="342900" indent="-342900">
              <a:buAutoNum type="arabicPeriod"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298056"/>
              </p:ext>
            </p:extLst>
          </p:nvPr>
        </p:nvGraphicFramePr>
        <p:xfrm>
          <a:off x="601579" y="1525783"/>
          <a:ext cx="10864518" cy="1478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753"/>
                <a:gridCol w="1810753"/>
                <a:gridCol w="1810753"/>
                <a:gridCol w="1415833"/>
                <a:gridCol w="1766047"/>
                <a:gridCol w="2250379"/>
              </a:tblGrid>
              <a:tr h="36388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Transaction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Attachment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Donors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Classes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Used by ULEC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Comment</a:t>
                      </a:r>
                      <a:endParaRPr lang="en-US" dirty="0"/>
                    </a:p>
                  </a:txBody>
                  <a:tcPr/>
                </a:tc>
              </a:tr>
              <a:tr h="363883"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Payroll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6388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Single time 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 smtClean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 smtClean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8517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Weekly timesheet</a:t>
                      </a:r>
                      <a:endParaRPr 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400" kern="1200" baseline="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 smtClean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 smtClean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7777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244" y="26167"/>
            <a:ext cx="11786437" cy="1499616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Transactions (Other)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91800" cy="4447761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endParaRPr lang="en-US" b="1" dirty="0" smtClean="0"/>
          </a:p>
          <a:p>
            <a:pPr marL="342900" indent="-342900">
              <a:buAutoNum type="arabicPeriod"/>
            </a:pPr>
            <a:endParaRPr lang="en-US" b="1" dirty="0" smtClean="0"/>
          </a:p>
          <a:p>
            <a:pPr marL="342900" indent="-342900">
              <a:buAutoNum type="arabicPeriod"/>
            </a:pPr>
            <a:endParaRPr lang="en-US" b="1" dirty="0" smtClean="0"/>
          </a:p>
          <a:p>
            <a:pPr marL="342900" indent="-342900">
              <a:buAutoNum type="arabicPeriod"/>
            </a:pPr>
            <a:endParaRPr lang="en-US" b="1" dirty="0" smtClean="0"/>
          </a:p>
          <a:p>
            <a:pPr marL="342900" indent="-342900">
              <a:buAutoNum type="arabicPeriod"/>
            </a:pPr>
            <a:endParaRPr lang="en-US" b="1" dirty="0" smtClean="0"/>
          </a:p>
          <a:p>
            <a:pPr marL="342900" indent="-342900">
              <a:buAutoNum type="arabicPeriod"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390935"/>
              </p:ext>
            </p:extLst>
          </p:nvPr>
        </p:nvGraphicFramePr>
        <p:xfrm>
          <a:off x="601579" y="1525783"/>
          <a:ext cx="10864518" cy="3152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753"/>
                <a:gridCol w="1810753"/>
                <a:gridCol w="1810753"/>
                <a:gridCol w="1415833"/>
                <a:gridCol w="1766047"/>
                <a:gridCol w="2250379"/>
              </a:tblGrid>
              <a:tr h="36388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Transaction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Attachment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Donors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Classes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Used by ULEC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Comment</a:t>
                      </a:r>
                      <a:endParaRPr lang="en-US" dirty="0"/>
                    </a:p>
                  </a:txBody>
                  <a:tcPr/>
                </a:tc>
              </a:tr>
              <a:tr h="363883"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Bank Deposit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not classification needed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6388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not need to classify</a:t>
                      </a:r>
                    </a:p>
                  </a:txBody>
                  <a:tcPr/>
                </a:tc>
              </a:tr>
              <a:tr h="38517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Journal Entry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Name = Donor</a:t>
                      </a:r>
                    </a:p>
                  </a:txBody>
                  <a:tcPr/>
                </a:tc>
              </a:tr>
              <a:tr h="38517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Statement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4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no need to classify</a:t>
                      </a:r>
                    </a:p>
                  </a:txBody>
                  <a:tcPr/>
                </a:tc>
              </a:tr>
              <a:tr h="38517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Inventory </a:t>
                      </a:r>
                      <a:r>
                        <a:rPr lang="en-US" sz="1400" dirty="0" err="1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Qty</a:t>
                      </a:r>
                      <a:r>
                        <a:rPr lang="en-US" sz="1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Adjustment</a:t>
                      </a:r>
                      <a:endParaRPr 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400" kern="1200" baseline="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 smtClean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 smtClean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8517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Batch transactions</a:t>
                      </a:r>
                      <a:endParaRPr 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400" kern="1200" baseline="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 smtClean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 smtClean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8517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Pay Down credit card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4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no need to classify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0783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244" y="26167"/>
            <a:ext cx="11786437" cy="1499616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Allocation Process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91800" cy="4447761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endParaRPr lang="en-US" b="1" dirty="0" smtClean="0"/>
          </a:p>
          <a:p>
            <a:pPr marL="342900" indent="-342900">
              <a:buAutoNum type="arabicPeriod"/>
            </a:pPr>
            <a:endParaRPr lang="en-US" b="1" dirty="0" smtClean="0"/>
          </a:p>
          <a:p>
            <a:pPr marL="342900" indent="-342900">
              <a:buAutoNum type="arabicPeriod"/>
            </a:pPr>
            <a:endParaRPr lang="en-US" b="1" dirty="0" smtClean="0"/>
          </a:p>
          <a:p>
            <a:pPr marL="342900" indent="-342900">
              <a:buAutoNum type="arabicPeriod"/>
            </a:pPr>
            <a:endParaRPr lang="en-US" b="1" dirty="0" smtClean="0"/>
          </a:p>
          <a:p>
            <a:pPr marL="342900" indent="-342900">
              <a:buAutoNum type="arabicPeriod"/>
            </a:pPr>
            <a:endParaRPr lang="en-US" b="1" dirty="0" smtClean="0"/>
          </a:p>
          <a:p>
            <a:pPr marL="342900" indent="-342900">
              <a:buAutoNum type="arabicPeriod"/>
            </a:pPr>
            <a:endParaRPr lang="en-US" dirty="0" smtClean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389529" y="2026024"/>
            <a:ext cx="9287436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Maintain Allocation Tables in Google Sheets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One Person (Greg) has change rights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Several people (account staff have read rights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Enter every relevant transaction with split from allocation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Approve allocation table after every change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Use helper functionality to calculate splits in google sheets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Use helper functionality to </a:t>
            </a:r>
            <a:r>
              <a:rPr lang="en-US" sz="2400" dirty="0"/>
              <a:t>d</a:t>
            </a:r>
            <a:r>
              <a:rPr lang="en-US" sz="2400" dirty="0" smtClean="0"/>
              <a:t>o mass uploads</a:t>
            </a:r>
          </a:p>
          <a:p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092395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1584528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2012-06-20T23:39:00+00:00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TP102923943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843282</LocLastLocAttemptVersionLookup>
    <IsSearchable xmlns="4873beb7-5857-4685-be1f-d57550cc96cc">true</IsSearchable>
    <TemplateTemplateType xmlns="4873beb7-5857-4685-be1f-d57550cc96cc">PowerPoint Template - Slideshow Launch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LocMarketGroupTiers2 xmlns="4873beb7-5857-4685-be1f-d57550cc96cc" xsi:nil="true"/>
    <APAuthor xmlns="4873beb7-5857-4685-be1f-d57550cc96cc">
      <UserInfo>
        <DisplayName>REDMOND\v-sa</DisplayName>
        <AccountId>2467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70C04F-E7AC-41AB-9C6D-1B1BB88BFF7F}">
  <ds:schemaRefs>
    <ds:schemaRef ds:uri="http://schemas.microsoft.com/office/2006/documentManagement/types"/>
    <ds:schemaRef ds:uri="http://schemas.microsoft.com/office/2006/metadata/properties"/>
    <ds:schemaRef ds:uri="4873beb7-5857-4685-be1f-d57550cc96cc"/>
    <ds:schemaRef ds:uri="http://schemas.microsoft.com/office/infopath/2007/PartnerControls"/>
    <ds:schemaRef ds:uri="http://purl.org/dc/elements/1.1/"/>
    <ds:schemaRef ds:uri="http://purl.org/dc/dcmitype/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EE7759-C66F-4EA4-9863-7EBA32518D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443</TotalTime>
  <Words>415</Words>
  <Application>Microsoft Office PowerPoint</Application>
  <PresentationFormat>Widescreen</PresentationFormat>
  <Paragraphs>176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Tw Cen MT</vt:lpstr>
      <vt:lpstr>Tw Cen MT Condensed</vt:lpstr>
      <vt:lpstr>Wingdings 3</vt:lpstr>
      <vt:lpstr>Integral</vt:lpstr>
      <vt:lpstr>Accounting Engagement FDT Townsend &amp; S&amp;A Technologies Status January 7 2020</vt:lpstr>
      <vt:lpstr>Meeting Objectives</vt:lpstr>
      <vt:lpstr>Arguments for Proposal</vt:lpstr>
      <vt:lpstr>Transactions (Customers)</vt:lpstr>
      <vt:lpstr>Transactions (Vendors)</vt:lpstr>
      <vt:lpstr>Transactions (Employees)</vt:lpstr>
      <vt:lpstr>Transactions (Other)</vt:lpstr>
      <vt:lpstr>Allocation Process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Accounting Engagement FT Townsend Kick Off Meeting</dc:title>
  <dc:creator>Peter Schmitt</dc:creator>
  <cp:keywords/>
  <cp:lastModifiedBy>Peter Schmitt</cp:lastModifiedBy>
  <cp:revision>24</cp:revision>
  <dcterms:created xsi:type="dcterms:W3CDTF">2019-11-21T14:39:05Z</dcterms:created>
  <dcterms:modified xsi:type="dcterms:W3CDTF">2020-01-09T20:46:09Z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_TemplateID">
    <vt:lpwstr>TC029239449991</vt:lpwstr>
  </property>
  <property fmtid="{D5CDD505-2E9C-101B-9397-08002B2CF9AE}" pid="4" name="ContentTypeId">
    <vt:lpwstr>0x0101006EDDDB5EE6D98C44930B742096920B300400F5B6D36B3EF94B4E9A635CDF2A18F5B8</vt:lpwstr>
  </property>
  <property fmtid="{D5CDD505-2E9C-101B-9397-08002B2CF9AE}" pid="5" name="FeatureTags">
    <vt:lpwstr/>
  </property>
  <property fmtid="{D5CDD505-2E9C-101B-9397-08002B2CF9AE}" pid="6" name="LocalizationTags">
    <vt:lpwstr/>
  </property>
  <property fmtid="{D5CDD505-2E9C-101B-9397-08002B2CF9AE}" pid="7" name="ScenarioTags">
    <vt:lpwstr/>
  </property>
  <property fmtid="{D5CDD505-2E9C-101B-9397-08002B2CF9AE}" pid="8" name="CampaignTags">
    <vt:lpwstr/>
  </property>
</Properties>
</file>