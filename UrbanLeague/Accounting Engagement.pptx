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</p:sldMasterIdLst>
  <p:notesMasterIdLst>
    <p:notesMasterId r:id="rId13"/>
  </p:notesMasterIdLst>
  <p:sldIdLst>
    <p:sldId id="256" r:id="rId5"/>
    <p:sldId id="271" r:id="rId6"/>
    <p:sldId id="272" r:id="rId7"/>
    <p:sldId id="273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1"/>
          </p14:sldIdLst>
        </p14:section>
        <p14:section name="Design, Impress, Work Together" id="{B9B51309-D148-4332-87C2-07BE32FBCA3B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4280" autoAdjust="0"/>
  </p:normalViewPr>
  <p:slideViewPr>
    <p:cSldViewPr snapToGrid="0">
      <p:cViewPr varScale="1">
        <p:scale>
          <a:sx n="71" d="100"/>
          <a:sy n="71" d="100"/>
        </p:scale>
        <p:origin x="62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3362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5394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1916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6489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4838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401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6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61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456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404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EEBAAA-29B5-4AF5-BC5F-7E580C29002D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34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379689"/>
            <a:ext cx="105156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Accounting Engagement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FDT Townsend &amp; S&amp;A Technologies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Kick-Off </a:t>
            </a:r>
            <a:r>
              <a:rPr lang="en-US" dirty="0" smtClean="0">
                <a:solidFill>
                  <a:schemeClr val="bg1"/>
                </a:solidFill>
              </a:rPr>
              <a:t>Meeting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68" y="4841207"/>
            <a:ext cx="5012174" cy="18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9720072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Meeting Objectives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3200" dirty="0" smtClean="0"/>
              <a:t>Team introduction</a:t>
            </a:r>
          </a:p>
          <a:p>
            <a:pPr marL="342900" indent="-342900">
              <a:buAutoNum type="arabicPeriod"/>
            </a:pPr>
            <a:r>
              <a:rPr lang="en-US" sz="3200" dirty="0" smtClean="0"/>
              <a:t>Project objectives &amp; deliverables</a:t>
            </a:r>
          </a:p>
          <a:p>
            <a:pPr marL="342900" indent="-342900">
              <a:buAutoNum type="arabicPeriod"/>
            </a:pPr>
            <a:r>
              <a:rPr lang="en-US" sz="3200" dirty="0" smtClean="0"/>
              <a:t>Project structure overview</a:t>
            </a:r>
          </a:p>
          <a:p>
            <a:pPr marL="342900" indent="-342900">
              <a:buAutoNum type="arabicPeriod"/>
            </a:pPr>
            <a:r>
              <a:rPr lang="en-US" sz="3200" dirty="0" smtClean="0"/>
              <a:t>Expectations of management 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89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Objectives &amp; Deliverables (Accounting)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99619"/>
              </p:ext>
            </p:extLst>
          </p:nvPr>
        </p:nvGraphicFramePr>
        <p:xfrm>
          <a:off x="601579" y="1525783"/>
          <a:ext cx="10864516" cy="4844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129"/>
                <a:gridCol w="2716129"/>
                <a:gridCol w="2716129"/>
                <a:gridCol w="271612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Deliverable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Estimated</a:t>
                      </a:r>
                      <a:r>
                        <a:rPr lang="en-US" baseline="0" dirty="0" smtClean="0"/>
                        <a:t> Timeframe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Bank Reconciliations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monthly bank reconciliations for all ULEC bank accounts, PayPal, Stripe, through</a:t>
                      </a:r>
                    </a:p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December 31, 2019 in preparation for 2019 audit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Reconciliation Reports From QB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January </a:t>
                      </a:r>
                      <a:r>
                        <a:rPr lang="en-US" baseline="0" dirty="0" smtClean="0"/>
                        <a:t>2020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Bank Account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 list of bank accounts to close and close them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Bank Account List Recommendation Report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February 2020</a:t>
                      </a:r>
                      <a:endParaRPr lang="en-US" dirty="0"/>
                    </a:p>
                  </a:txBody>
                  <a:tcPr/>
                </a:tc>
              </a:tr>
              <a:tr h="1212338">
                <a:tc>
                  <a:txBody>
                    <a:bodyPr/>
                    <a:lstStyle/>
                    <a:p>
                      <a:r>
                        <a:rPr lang="en-US" dirty="0" smtClean="0"/>
                        <a:t>QuickBooks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AR Module 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Clean up old AR detail balance; prepare AR module to be utilized and to produce reports that management can use to make decisions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Updated AR Reports from QuickBooks (reports</a:t>
                      </a:r>
                      <a:r>
                        <a:rPr lang="en-US" baseline="0" dirty="0" smtClean="0"/>
                        <a:t> showing actual current balances)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January 2020</a:t>
                      </a:r>
                      <a:endParaRPr lang="en-US" dirty="0"/>
                    </a:p>
                  </a:txBody>
                  <a:tcPr/>
                </a:tc>
              </a:tr>
              <a:tr h="1212338">
                <a:tc>
                  <a:txBody>
                    <a:bodyPr/>
                    <a:lstStyle/>
                    <a:p>
                      <a:r>
                        <a:rPr lang="en-US" dirty="0" smtClean="0"/>
                        <a:t>QuickBooks AP Module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Clean up old AP detail balance; prepare AP module to be utilized and to produce reports that management can use to make decisions </a:t>
                      </a:r>
                    </a:p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Updated AP Reports from QuickBooks (reports</a:t>
                      </a:r>
                      <a:r>
                        <a:rPr lang="en-US" baseline="0" dirty="0" smtClean="0"/>
                        <a:t> showing actual current balances) 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January 2020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45" y="226628"/>
            <a:ext cx="11158907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Objectives &amp; Deliverables (Accounting) </a:t>
            </a:r>
            <a:r>
              <a:rPr lang="en-US" sz="1800" dirty="0" smtClean="0">
                <a:solidFill>
                  <a:schemeClr val="bg1"/>
                </a:solidFill>
              </a:rPr>
              <a:t>Continue…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487404"/>
              </p:ext>
            </p:extLst>
          </p:nvPr>
        </p:nvGraphicFramePr>
        <p:xfrm>
          <a:off x="838200" y="1825625"/>
          <a:ext cx="10591800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950"/>
                <a:gridCol w="2647950"/>
                <a:gridCol w="2647950"/>
                <a:gridCol w="26479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Deliverable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Estimated</a:t>
                      </a:r>
                      <a:r>
                        <a:rPr lang="en-US" baseline="0" dirty="0" smtClean="0"/>
                        <a:t> Timeframe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Chart of Accounts Review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chart of accounts to remove unnecessary accounts and remove them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New Chart</a:t>
                      </a:r>
                      <a:r>
                        <a:rPr lang="en-US" baseline="0" dirty="0" smtClean="0"/>
                        <a:t> of Accounts Report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February 2020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Moving</a:t>
                      </a:r>
                      <a:r>
                        <a:rPr lang="en-US" baseline="0" dirty="0" smtClean="0"/>
                        <a:t> Real Estate Activities (in QuickBooks)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Move real estate activities currently in one class to the Opportunity Corp, in a separate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QuickBooks file.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List of Real Estate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Adjusting Journal Entries</a:t>
                      </a:r>
                      <a:r>
                        <a:rPr lang="en-US" baseline="0" dirty="0" smtClean="0"/>
                        <a:t> &amp; Updated Balance Sheet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February 2020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82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884" y="83191"/>
            <a:ext cx="11249998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Objectives &amp; Deliverables (Administrative)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27387"/>
              </p:ext>
            </p:extLst>
          </p:nvPr>
        </p:nvGraphicFramePr>
        <p:xfrm>
          <a:off x="717884" y="1518920"/>
          <a:ext cx="10591800" cy="4968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06520"/>
                <a:gridCol w="4613878"/>
                <a:gridCol w="1585701"/>
                <a:gridCol w="15857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Deliverable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Estimated</a:t>
                      </a:r>
                      <a:r>
                        <a:rPr lang="en-US" sz="1400" baseline="0" dirty="0" smtClean="0"/>
                        <a:t> Timeframe</a:t>
                      </a:r>
                      <a:endParaRPr 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Processes Automation &amp; Improvement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baseline="0" dirty="0" smtClean="0"/>
                        <a:t>Prepare specific recommendations to improve accounting procedures by utilizing and</a:t>
                      </a:r>
                    </a:p>
                    <a:p>
                      <a:r>
                        <a:rPr lang="en-US" sz="1400" kern="1200" baseline="0" dirty="0" smtClean="0"/>
                        <a:t>implementing available technology for bill payment, recording credit card transactions using</a:t>
                      </a:r>
                    </a:p>
                    <a:p>
                      <a:r>
                        <a:rPr lang="en-US" sz="1400" kern="1200" baseline="0" dirty="0" smtClean="0"/>
                        <a:t>the QuickBooks app, etc. Automate credit card process and check cutting and move to ACH</a:t>
                      </a:r>
                    </a:p>
                    <a:p>
                      <a:r>
                        <a:rPr lang="en-US" sz="1400" kern="1200" baseline="0" dirty="0" smtClean="0"/>
                        <a:t>process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New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Standard</a:t>
                      </a:r>
                      <a:r>
                        <a:rPr lang="en-US" sz="1600" baseline="0" dirty="0" smtClean="0"/>
                        <a:t> Operating Procedures (SOP)</a:t>
                      </a:r>
                      <a:endParaRPr lang="en-US" sz="16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February 2020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Automation of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Grant Reporting Process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baseline="0" dirty="0" smtClean="0"/>
                        <a:t>Review current grant award documentation requirements to find efficient and effective ways</a:t>
                      </a:r>
                    </a:p>
                    <a:p>
                      <a:r>
                        <a:rPr lang="en-US" sz="1600" kern="1200" baseline="0" dirty="0" smtClean="0"/>
                        <a:t>to compile and deliver periodic grant reporting; automate the grant reporting process and</a:t>
                      </a:r>
                    </a:p>
                    <a:p>
                      <a:r>
                        <a:rPr lang="en-US" sz="1600" kern="1200" baseline="0" dirty="0" smtClean="0"/>
                        <a:t>invoicing to funders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New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Standard</a:t>
                      </a:r>
                      <a:r>
                        <a:rPr lang="en-US" sz="1600" baseline="0" dirty="0" smtClean="0"/>
                        <a:t> Operating Procedures (SOP)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February 2020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QuickBooks Classes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/>
                        <a:t>Review classes and provide recommendations for improved reporting structure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New Recommended</a:t>
                      </a:r>
                      <a:r>
                        <a:rPr lang="en-US" sz="1400" baseline="0" dirty="0" smtClean="0"/>
                        <a:t> List of Classes to 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February 2020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Cost Allocation</a:t>
                      </a:r>
                      <a:r>
                        <a:rPr lang="en-US" baseline="0" dirty="0" smtClean="0"/>
                        <a:t> 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baseline="0" dirty="0" smtClean="0"/>
                        <a:t>Develop and implement cost effective allocations methodology for overhead costs; develop</a:t>
                      </a:r>
                    </a:p>
                    <a:p>
                      <a:r>
                        <a:rPr lang="en-US" sz="1600" kern="1200" baseline="0" dirty="0" smtClean="0"/>
                        <a:t>required tools to do so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New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Standard</a:t>
                      </a:r>
                      <a:r>
                        <a:rPr lang="en-US" sz="1200" baseline="0" dirty="0" smtClean="0"/>
                        <a:t> Operating Procedures (SOP)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February 2020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43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833" y="92157"/>
            <a:ext cx="9720072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Structure Overview 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3105"/>
              </p:ext>
            </p:extLst>
          </p:nvPr>
        </p:nvGraphicFramePr>
        <p:xfrm>
          <a:off x="697833" y="3344779"/>
          <a:ext cx="10082463" cy="20062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60821"/>
                <a:gridCol w="3360821"/>
                <a:gridCol w="3360821"/>
              </a:tblGrid>
              <a:tr h="6687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Primary Team</a:t>
                      </a:r>
                      <a:r>
                        <a:rPr lang="en-US" baseline="0" dirty="0" smtClean="0"/>
                        <a:t> Members</a:t>
                      </a:r>
                      <a:endParaRPr lang="en-US" dirty="0"/>
                    </a:p>
                  </a:txBody>
                  <a:tcPr/>
                </a:tc>
              </a:tr>
              <a:tr h="6687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Accounting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Migdelis &amp; Priyanka</a:t>
                      </a:r>
                      <a:endParaRPr lang="en-US" dirty="0"/>
                    </a:p>
                  </a:txBody>
                  <a:tcPr/>
                </a:tc>
              </a:tr>
              <a:tr h="6687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Administrative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Peter</a:t>
                      </a:r>
                      <a:r>
                        <a:rPr lang="en-US" baseline="0" dirty="0" smtClean="0"/>
                        <a:t> + Intuit Resources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60612" y="1868111"/>
            <a:ext cx="6463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Primary Contact: </a:t>
            </a:r>
          </a:p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</a:rPr>
              <a:t>Floyd D. Townsend 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9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504" y="136981"/>
            <a:ext cx="11284413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Expectations of Management During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926" y="1854485"/>
            <a:ext cx="967311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smtClean="0"/>
              <a:t>Availability for progress meetings and process walkthrough meetings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smtClean="0"/>
              <a:t>Request for documents and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smtClean="0"/>
              <a:t>Approvals/sign 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2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410" y="38369"/>
            <a:ext cx="9720072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Next Steps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Establish list of </a:t>
            </a:r>
          </a:p>
          <a:p>
            <a:pPr lvl="1"/>
            <a:r>
              <a:rPr lang="en-US" dirty="0" smtClean="0"/>
              <a:t>participants and their roles</a:t>
            </a:r>
          </a:p>
          <a:p>
            <a:r>
              <a:rPr lang="en-US" dirty="0" smtClean="0"/>
              <a:t>Schedule Meeting to</a:t>
            </a:r>
          </a:p>
          <a:p>
            <a:pPr lvl="1"/>
            <a:r>
              <a:rPr lang="en-US" dirty="0" smtClean="0"/>
              <a:t>process walkthrough</a:t>
            </a:r>
          </a:p>
          <a:p>
            <a:pPr lvl="1"/>
            <a:r>
              <a:rPr lang="en-US" dirty="0" smtClean="0"/>
              <a:t>Collect existing documented procedure</a:t>
            </a:r>
          </a:p>
          <a:p>
            <a:pPr lvl="1"/>
            <a:r>
              <a:rPr lang="en-US" dirty="0" smtClean="0"/>
              <a:t>Establish list of procedures, sops and reports and grant requirements</a:t>
            </a:r>
          </a:p>
          <a:p>
            <a:pPr lvl="2"/>
            <a:r>
              <a:rPr lang="en-US" dirty="0" smtClean="0"/>
              <a:t>Input for exploration</a:t>
            </a:r>
          </a:p>
          <a:p>
            <a:pPr lvl="1"/>
            <a:endParaRPr lang="en-US" dirty="0"/>
          </a:p>
          <a:p>
            <a:pPr marL="128016" lvl="1" indent="0">
              <a:buNone/>
            </a:pPr>
            <a:r>
              <a:rPr lang="en-US" dirty="0" smtClean="0"/>
              <a:t>Establish regular status reporting to whom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 smtClean="0"/>
              <a:t>Establish save document exchange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 smtClean="0"/>
              <a:t>Propose list of bank accounts to close 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 smtClean="0"/>
              <a:t>Explore new tools (Bill.com, QB App) and propose for approval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56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873beb7-5857-4685-be1f-d57550cc96cc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506</Words>
  <Application>Microsoft Office PowerPoint</Application>
  <PresentationFormat>Widescreen</PresentationFormat>
  <Paragraphs>109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Tw Cen MT</vt:lpstr>
      <vt:lpstr>Tw Cen MT Condensed</vt:lpstr>
      <vt:lpstr>Wingdings 3</vt:lpstr>
      <vt:lpstr>Integral</vt:lpstr>
      <vt:lpstr>Accounting Engagement FDT Townsend &amp; S&amp;A Technologies Kick-Off Meeting</vt:lpstr>
      <vt:lpstr>Meeting Objectives</vt:lpstr>
      <vt:lpstr>Project Objectives &amp; Deliverables (Accounting)</vt:lpstr>
      <vt:lpstr>Project Objectives &amp; Deliverables (Accounting) Continue…</vt:lpstr>
      <vt:lpstr>Project Objectives &amp; Deliverables (Administrative)</vt:lpstr>
      <vt:lpstr>Project Structure Overview </vt:lpstr>
      <vt:lpstr>Expectations of Management During Project</vt:lpstr>
      <vt:lpstr>Next Steps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Engagement FT Townsend Kick Off Meeting</dc:title>
  <dc:creator>Peter Schmitt</dc:creator>
  <cp:keywords/>
  <cp:lastModifiedBy>Peter Schmitt</cp:lastModifiedBy>
  <cp:revision>13</cp:revision>
  <dcterms:created xsi:type="dcterms:W3CDTF">2019-11-21T14:39:05Z</dcterms:created>
  <dcterms:modified xsi:type="dcterms:W3CDTF">2019-11-26T16:03:17Z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